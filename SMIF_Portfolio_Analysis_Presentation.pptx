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Real-Money Portfolio Analytics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Managing $500K in Student Investment Capital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Rufaro | Clarkson University SMIF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January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Executive Summary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11480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Portfolio Value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$452,462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Total Return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85.91%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Win Rate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84.4%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Number of Positions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45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Profit Factor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44.04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5"/>
                </a:solidFill>
              </a:rPr>
              <a:t>Key Finding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029200" y="18288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Top 3 positions </a:t>
            </a:r>
            <a:pPr indent="0" marL="0">
              <a:buNone/>
            </a:pPr>
            <a:r>
              <a:rPr lang="en-US" sz="1600" b="1" dirty="0">
                <a:solidFill>
                  <a:srgbClr val="70AD47"/>
                </a:solidFill>
              </a:rPr>
              <a:t>(AAPL, UNH, META)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contributed 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41.7% of total profits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despite being only ~20% of portfolio value.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0" y="3840480"/>
            <a:ext cx="3657600" cy="548640"/>
          </a:xfrm>
          <a:prstGeom prst="rect">
            <a:avLst/>
          </a:prstGeom>
          <a:solidFill>
            <a:srgbClr val="FFF4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000"/>
                </a:solidFill>
              </a:rPr>
              <a:t>Recommendation: Consolidate from 45 to 20-25 positions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Performance Attribution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75B5"/>
                </a:solidFill>
              </a:rPr>
              <a:t>Top 5 Contributors to Portfolio P&amp;L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28600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P&amp;L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Return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Contribution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AAPL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$40,016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8.88%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19.1%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UNH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$26,880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9.36%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12.9%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META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$20,234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1.89%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9.7%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COST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$10,708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0.94%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5.1%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INTU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$10,659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2.25%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5.1%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Insight: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Top 3 holdings generated $87,130 (41.7% of total gains) on just 20% of portfolio value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The Over-Diversification Problem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11480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Total Positions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45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Top 10 Concentration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0.48%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Positions &lt; 1%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45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HHI Score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0.03 (Highly Diversified)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0000"/>
                </a:solidFill>
              </a:rPr>
              <a:t>Consequences: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029200" y="1645920"/>
            <a:ext cx="3657600" cy="548640"/>
          </a:xfrm>
          <a:prstGeom prst="rect">
            <a:avLst/>
          </a:prstGeom>
          <a:solidFill>
            <a:srgbClr val="FFE6E6"/>
          </a:solidFill>
          <a:ln/>
        </p:spPr>
      </p:sp>
      <p:sp>
        <p:nvSpPr>
          <p:cNvPr id="6" name="Text 3"/>
          <p:cNvSpPr/>
          <p:nvPr/>
        </p:nvSpPr>
        <p:spPr>
          <a:xfrm>
            <a:off x="512064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Best ideas (AAPL) were only 9% of portfolio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12064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45 positions under 1% barely move the needle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12064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Time spent on small positions = lost opportunity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</a:rPr>
              <a:t>Recommendation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29200" y="4114800"/>
            <a:ext cx="3657600" cy="548640"/>
          </a:xfrm>
          <a:prstGeom prst="rect">
            <a:avLst/>
          </a:prstGeom>
          <a:solidFill>
            <a:srgbClr val="E6F4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Consolidate to 20-25 positions with 2-3% minimum size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Risk Management: Winners vs. Losers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Winners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Losers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Count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38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Win Rate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84.4%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15.6%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Avg Return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+1.73%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-0.21%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Best/Worst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+11.96% (DECK)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-0.42% (CVS)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Total P&amp;L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$214,417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$-5,331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E6F4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0AD47"/>
                </a:solidFill>
              </a:rPr>
              <a:t>Key Insight: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Average winner was 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8.2x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larger than average loser. Losers were cut quickly before significant damage.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Sector Exposure Analysis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4864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Sector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% Portfolio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Technology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$185,169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40.9%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Financials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$45,677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10.1%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Consumer Discretionary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$41,176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9.1%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Industrials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$39,537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8.7%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Healthcare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$36,126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8.0%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Energy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$24,242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5.4%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Technology bet paid off: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40.9% allocation generated $103K in gains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Key Lessons: Backtest vs. Reality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000000"/>
                </a:solidFill>
              </a:rPr>
              <a:t>1. Concentration Beats Diversification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Top 3 positions drove 42% of profits. More concentrated = better returns.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000000"/>
                </a:solidFill>
              </a:rPr>
              <a:t>2. Position Sizing Matters More Than Selection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AAPL at 9% generated $40K. At 15%, would have been $66K (+$26K difference).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000000"/>
                </a:solidFill>
              </a:rPr>
              <a:t>3. Small Positions Are Meaningless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45 positions under 1% consume research time without material impact.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000000"/>
                </a:solidFill>
              </a:rPr>
              <a:t>4. Quality Companies Outperform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AAPL, UNH, META, COST—all high-quality businesses with moats.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5"/>
                </a:solidFill>
              </a:rPr>
              <a:t>Immediate Actions: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1. Consolidate to 20-25 positions (exit all under 1%)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2. Set minimum position size of 2-3%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3. Increase allocation to top performers (AAPL, UNH, META)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4. Document investment thesis for each position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5. Monthly performance attribution tracking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754880"/>
            <a:ext cx="8229600" cy="731520"/>
          </a:xfrm>
          <a:prstGeom prst="rect">
            <a:avLst/>
          </a:prstGeom>
          <a:solidFill>
            <a:srgbClr val="FFF4D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892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000"/>
                </a:solidFill>
              </a:rPr>
              <a:t>Expected Impact: 15-25% improvement in risk-adjusted returns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Managing $500K in real capital reveals what backtests cannot: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2926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AD47"/>
                </a:solidFill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Conviction-weighted portfolios outperform diversified ones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AD47"/>
                </a:solidFill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Position sizing discipline is as important as stock selection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AD47"/>
                </a:solidFill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Quality-focused fundamental analysis identifies winners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AD47"/>
                </a:solidFill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Cutting losers quickly preserves capital for winners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AD47"/>
                </a:solidFill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gap between theory and practice is significant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5B5"/>
                </a:solidFill>
              </a:rPr>
              <a:t>Next: Consolidate portfolio and track monthly attribution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Questions?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Rufaro | rufaro@clarkson.edu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Full Analysis Available on GitHub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Clarkson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SMIF Portfolio Analysis</dc:title>
  <dc:subject>Real-Money Portfolio Performance Analysis</dc:subject>
  <dc:creator>Rufaro</dc:creator>
  <cp:lastModifiedBy>Rufaro</cp:lastModifiedBy>
  <cp:revision>1</cp:revision>
  <dcterms:created xsi:type="dcterms:W3CDTF">2026-01-06T23:32:04Z</dcterms:created>
  <dcterms:modified xsi:type="dcterms:W3CDTF">2026-01-06T23:32:04Z</dcterms:modified>
</cp:coreProperties>
</file>